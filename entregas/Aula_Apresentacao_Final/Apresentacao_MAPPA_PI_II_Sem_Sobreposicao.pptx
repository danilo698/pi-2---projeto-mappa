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9"/>
    <p:sldId id="264" r:id="rId10"/>
    <p:sldId id="265" r:id="rId11"/>
    <p:sldId id="267" r:id="rId18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apresente o nome do time, o nome do produto e uma frase de impacto sobre o problema (ex.: quantidade de acidentes registrados no recorte DF/Entorno). Tom direto, sem ler 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Contextualize o problema com um dado real, se disponível (ex.: número total de registros da base usada). Explique por que dados brutos da PRF não bastam por si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visão em voz alta, pausando nas partes em negrito. Essa frase resume o produto inteiro — é a mais importante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persona como uma pessoa real: dê contexto rápido (quem é, o que faz) antes de entrar nas necessidades e dores. Isso humaniza o problema para a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Narre a jornada como uma pequena história (persona + verbo de ação em cada passo). Aponte que o passo 5 é o momento em que o produto gera valor real de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costuma gerar boas perguntas da banca. Use-o para deixar claro, de forma proativa, o que o MAPPA não se propõe a fazer — isso mostra maturidade de escopo.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claro que este é o recorte mínimo que já entrega valor sozinho — o restante do backlog (mapa, ranking, filtros combinados) são incrementos pós-MVP.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substitua o placeholder por um print real (ou faça a demonstração ao vivo trocando para o navegador). Esta é a parte mais convincente da apresentação — não pule.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Atualize os marcadores de sprint concluída/planejada antes de apresentar, refletindo o progresso real da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para amarrar teoria e prática: mostre que cada etapa do Lean Inception (visto em aula) gerou um artefato concreto do projeto MAPPA.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reforçando o repositório do projeto e abrindo espaço para perguntas. Tenha as telas do protótipo prontas para reabrir caso a banca peça mais detalhes.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42647"/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206240"/>
            <a:ext cx="4572000" cy="4572000"/>
          </a:xfrm>
          <a:prstGeom prst="ellipse">
            <a:avLst/>
          </a:prstGeom>
          <a:solidFill>
            <a:srgbClr val="14264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II  •  APRESENTAÇÃO DOS PROJETOS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Modelador Analítico de Painéis para Prevenção de Acidentes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2926080" cy="0"/>
          </a:xfrm>
          <a:prstGeom prst="line">
            <a:avLst/>
          </a:prstGeom>
          <a:noFill/>
          <a:ln w="25400">
            <a:solidFill>
              <a:srgbClr val="D98E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dados públicos de acidentes em decisões de segurança viária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Vitor Velozo   •   Danilo Lisboa   •   Igor Cavalcante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PRF disponibiliza bases oficiais e públicas sobre acidentes em rodovias federais — mas os dados brutos exigem tratamento antes que qualquer padrão relevante possa ser identificado.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recorte das rodovias federais do DF e Entorno (BR-020, 040, 060, 070 e 080), essa dificuldade atrasa a identificação de trechos críticos, horários de risco e causas recorrentes.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6E3C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3159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de software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464515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Organizar, tratar e apresentar os dados de forma integrada — permitindo que o usuário explore múltiplas dimensões e obtenha uma visão objetiva da segurança viária.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52360" y="1417320"/>
            <a:ext cx="4023360" cy="4160520"/>
          </a:xfrm>
          <a:prstGeom prst="roundRect">
            <a:avLst>
              <a:gd name="adj" fmla="val 1818"/>
            </a:avLst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GEOGRÁFICO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1812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Rodovias federais do DF e Entorno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2697480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142647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26974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BR-020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8120" y="3264408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142647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2644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BR-040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18120" y="3831336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142647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383133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BR-060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18120" y="4398264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142647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0" y="43982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BR-070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18120" y="4965192"/>
            <a:ext cx="3291840" cy="420624"/>
          </a:xfrm>
          <a:prstGeom prst="roundRect">
            <a:avLst>
              <a:gd name="adj" fmla="val 13043"/>
            </a:avLst>
          </a:prstGeom>
          <a:solidFill>
            <a:srgbClr val="142647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496519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BR-080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— Modelador Analítico de Painéis para Prevenção de Acidentes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do Produto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Lean Inception — Roman Pichler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152400" dist="38100" dir="5400000">
              <a:srgbClr val="1F3864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0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gestores de mobilidade, supervisores de fiscalização e pesquisadores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0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cujo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desafio é interpretar rapidamente grandes volumes de dados brutos de acidentes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0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o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MAPPA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0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é uma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analítica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0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que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 dados públicos da PRF em indicadores, gráficos e mapas prontos para uso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0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Diferentemente de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planilhas e relatórios manuais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0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o MAPPA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análises interativas e atualizadas em poucos cliques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02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73152" cy="3931920"/>
          </a:xfrm>
          <a:prstGeom prst="rect">
            <a:avLst/>
          </a:prstGeom>
          <a:solidFill>
            <a:srgbClr val="D98E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— Modelador Analítico de Painéis para Prevenção de Acidentes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1F3864"/>
          </a:solidFill>
          <a:ln/>
        </p:spPr>
      </p:sp>
      <p:sp>
        <p:nvSpPr>
          <p:cNvPr id="4" name="Shape 2"/>
          <p:cNvSpPr/>
          <p:nvPr/>
        </p:nvSpPr>
        <p:spPr>
          <a:xfrm>
            <a:off x="1508760" y="1920240"/>
            <a:ext cx="1828800" cy="182880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9202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Marcos Andrade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2793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anos • Gestor de Mobilidade Urbana do DF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4983480"/>
            <a:ext cx="2011680" cy="0"/>
          </a:xfrm>
          <a:prstGeom prst="line">
            <a:avLst/>
          </a:prstGeom>
          <a:noFill/>
          <a:ln w="19050">
            <a:solidFill>
              <a:srgbClr val="D98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166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civil, trabalha há 12 anos com planejamento viário e políticas de segurança no trânsito.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384048" cy="384048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148132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Engenharia Civil, atua na Secretaria de Mobilidade, acompanha indicadores de várias rodovias ao mesmo tempo.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624328"/>
            <a:ext cx="384048" cy="384048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259689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89864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decisões orientadas por dados, mas tem pouco tempo disponível; prefere painéis visuais a planilhas extensas.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34840" y="3739896"/>
            <a:ext cx="384048" cy="384048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371246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4014216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identificar rapidamente trechos e horários críticos para direcionar ações preventivas e fiscalização.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4855464"/>
            <a:ext cx="384048" cy="384048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0" y="48280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5129784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 tempo cruzando manualmente arquivos brutos da PRF; dificuldade em comparar rodovias e períodos de forma visual.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— Modelador Analítico de Painéis para Prevenção de Acidentes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Jornada do Usuário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primeiro acesso à ação preventiva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" y="2880360"/>
            <a:ext cx="10040112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31520" y="2560320"/>
            <a:ext cx="640080" cy="64008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53872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Acessa o dashboard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20624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abre o MAPPA no navegador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89504" y="2560320"/>
            <a:ext cx="640080" cy="64008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1" name="Text 9"/>
          <p:cNvSpPr/>
          <p:nvPr/>
        </p:nvSpPr>
        <p:spPr>
          <a:xfrm>
            <a:off x="2889504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89504" y="3383280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26664" y="353872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 por rodovia e período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26664" y="420624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a BR e o intervalo de interesse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47488" y="2560320"/>
            <a:ext cx="640080" cy="64008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47488" y="3383280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84648" y="353872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 indicadores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84648" y="420624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gráficos, ranking e mapa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05472" y="2560320"/>
            <a:ext cx="640080" cy="64008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21" name="Text 19"/>
          <p:cNvSpPr/>
          <p:nvPr/>
        </p:nvSpPr>
        <p:spPr>
          <a:xfrm>
            <a:off x="7205472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205472" y="3383280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42632" y="353872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 o trecho crítico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42632" y="420624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causa, horário e severidade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63456" y="25603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936345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363456" y="3383280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500616" y="3538728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Direciona a ação preventiva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500616" y="420624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 análise para embasar decisões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— Modelador Analítico de Painéis para Prevenção de Acidentes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É, Não É, Faz, Não Faz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Definindo limites claros para o escopo do MVP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194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analítica e acadêmica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indicadores sobre acidentes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à interpretação de dados públicos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194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previsão de acidentes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Substituto de sistemas oficiais de fiscalização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primária de dados (depende da PRF)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9776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98E2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5720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Trata, consolida e organiza os dados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indicadores, gráficos, ranking e mapa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filtros combinados por dimensão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97764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39776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B0781E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FAZ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45720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emite autuações ou multas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investigação policial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garante cobertura de 100% das ocorrências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— Modelador Analítico de Painéis para Prevenção de Acidentes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— Funcionalidades Priorizadas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prioritárias do MVP — verificadas em execução local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386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37944"/>
            <a:ext cx="868680" cy="484632"/>
          </a:xfrm>
          <a:prstGeom prst="roundRect">
            <a:avLst>
              <a:gd name="adj" fmla="val 50943"/>
            </a:avLst>
          </a:prstGeom>
          <a:solidFill>
            <a:srgbClr val="D98E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37944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764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Filtrar acidentes por rodovia e período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03120" y="20939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trechos críticos rapidamente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875520" y="1837944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386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2770632"/>
            <a:ext cx="868680" cy="484632"/>
          </a:xfrm>
          <a:prstGeom prst="roundRect">
            <a:avLst>
              <a:gd name="adj" fmla="val 50943"/>
            </a:avLst>
          </a:prstGeom>
          <a:solidFill>
            <a:srgbClr val="D98E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7063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Visualizar indicadores consolidados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03120" y="30266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Acidentes, feridos e mortos em um só painel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875520" y="2770632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57016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386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3703320"/>
            <a:ext cx="868680" cy="484632"/>
          </a:xfrm>
          <a:prstGeom prst="roundRect">
            <a:avLst>
              <a:gd name="adj" fmla="val 50943"/>
            </a:avLst>
          </a:prstGeom>
          <a:solidFill>
            <a:srgbClr val="D98E2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703320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3630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Tratar automaticamente os dados da PRF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103120" y="3959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garante dados confiáveis para análise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875520" y="3703320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489704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3864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0120" y="4636008"/>
            <a:ext cx="868680" cy="484632"/>
          </a:xfrm>
          <a:prstGeom prst="roundRect">
            <a:avLst>
              <a:gd name="adj" fmla="val 50943"/>
            </a:avLst>
          </a:prstGeom>
          <a:solidFill>
            <a:srgbClr val="D98E2B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636008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45628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Visualizar gráficos por causa e horário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1031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padrões recorrentes de ocorrência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875520" y="4636008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— Modelador Analítico de Painéis para Prevenção de Acidentes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3252"/>
                </a:solidFill>
                <a:latin typeface="Aptos"/>
              </a:defRPr>
            </a:pPr>
            <a:r>
              <a:t>Demonstração do Protótipo — RF11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3252"/>
                </a:solidFill>
                <a:latin typeface="Aptos"/>
              </a:defRPr>
            </a:pPr>
            <a:r>
              <a:t>Comparação entre períodos: 2024 e 2025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 b="23808"/>
          <a:stretch>
            <a:fillRect/>
          </a:stretch>
        </p:blipFill>
        <p:spPr>
          <a:xfrm>
            <a:off x="640080" y="1508760"/>
            <a:ext cx="10881360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0527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3252"/>
                </a:solidFill>
                <a:latin typeface="Aptos"/>
              </a:defRPr>
            </a:pPr>
            <a:r>
              <a:rPr sz="1600"/>
              <a:t>Acidentes: 4.499 → 4.514 (+0,3%)   |   Feridos: 5.092 → 5.226 (+2,6%)   |   Mortos: 285 → 340 (+19,3%)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081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6273"/>
                </a:solidFill>
                <a:latin typeface="Aptos"/>
              </a:defRPr>
            </a:pPr>
            <a:r>
              <a:rPr sz="1200"/>
              <a:t>Captura real do dashboard em execução local • Dados processados da PRF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C3252"/>
                </a:solidFill>
                <a:latin typeface="Aptos"/>
              </a:defRPr>
            </a:pPr>
            <a:r>
              <a:t>Demonstração do Protótipo — RF12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972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C3252"/>
                </a:solidFill>
                <a:latin typeface="Aptos"/>
              </a:defRPr>
            </a:pPr>
            <a:r>
              <a:t>Trechos críticos: filtro por classificação Urbana ou Rural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3252"/>
                </a:solidFill>
                <a:latin typeface="Aptos"/>
              </a:defRPr>
            </a:pPr>
            <a:r>
              <a:t>Área urbana — BR-040/GO km 0–10: 2.423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9632" y="12984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3252"/>
                </a:solidFill>
                <a:latin typeface="Aptos"/>
              </a:defRPr>
            </a:pPr>
            <a:r>
              <a:t>Área rural — classificação da PRF</a:t>
            </a:r>
          </a:p>
        </p:txBody>
      </p:sp>
      <p:pic>
        <p:nvPicPr>
          <p:cNvPr id="6" name="Picture 5" descr="image(20261008-18344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00784"/>
            <a:ext cx="5321808" cy="3105302"/>
          </a:xfrm>
          <a:prstGeom prst="rect">
            <a:avLst/>
          </a:prstGeom>
        </p:spPr>
      </p:pic>
      <p:pic>
        <p:nvPicPr>
          <p:cNvPr id="7" name="Picture 6" descr="image(20261008-18351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00784"/>
            <a:ext cx="5321808" cy="32381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03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C3252"/>
                </a:solidFill>
                <a:latin typeface="Aptos"/>
              </a:defRPr>
            </a:pPr>
            <a:r>
              <a:t>O mesmo intervalo BR-040/GO km 0–10 soma 2.612 ocorrências: 2.423 urbanas e 189 rurais.</a:t>
            </a:r>
          </a:p>
          <a:p>
            <a:pPr>
              <a:defRPr sz="1300" b="0">
                <a:solidFill>
                  <a:srgbClr val="1C3252"/>
                </a:solidFill>
                <a:latin typeface="Aptos"/>
              </a:defRPr>
            </a:pPr>
            <a:r>
              <a:t>A classificação é a do campo uso_solo; não mede distância até cidades.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6273"/>
                </a:solidFill>
                <a:latin typeface="Aptos"/>
              </a:defRPr>
            </a:pPr>
            <a:r>
              <a:t>Ranking por BR, UF e intervalo de km; não é taxa de risco. Continuidade geográfica ainda pendente de validação.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em Sprints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verificada em 08/10/2026 — evolução local do projeto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" y="2788920"/>
            <a:ext cx="10040112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2048256" cy="1417320"/>
          </a:xfrm>
          <a:prstGeom prst="roundRect">
            <a:avLst>
              <a:gd name="adj" fmla="val 516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290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da base e ETL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89504" y="246888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288950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889504" y="3291840"/>
            <a:ext cx="2048256" cy="1417320"/>
          </a:xfrm>
          <a:prstGeom prst="roundRect">
            <a:avLst>
              <a:gd name="adj" fmla="val 516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26664" y="34290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26664" y="374904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e gráficos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26664" y="448056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47488" y="24688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4748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47488" y="2468880"/>
            <a:ext cx="640080" cy="640080"/>
          </a:xfrm>
          <a:prstGeom prst="ellipse">
            <a:avLst/>
          </a:prstGeom>
          <a:ln w="25400">
            <a:solidFill>
              <a:srgbClr val="1F3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47488" y="3291840"/>
            <a:ext cx="204825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34290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84648" y="374904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Ranking, mapa e filtros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84648" y="448056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Demonstrado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05472" y="24688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20547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205472" y="2468880"/>
            <a:ext cx="640080" cy="640080"/>
          </a:xfrm>
          <a:prstGeom prst="ellipse">
            <a:avLst/>
          </a:prstGeom>
          <a:ln w="25400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05472" y="3291840"/>
            <a:ext cx="204825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42632" y="34290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42632" y="374904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e desempenho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42632" y="448056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363456" y="24688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36345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9363456" y="2468880"/>
            <a:ext cx="640080" cy="640080"/>
          </a:xfrm>
          <a:prstGeom prst="ellipse">
            <a:avLst/>
          </a:prstGeom>
          <a:ln w="25400">
            <a:solidFill>
              <a:srgbClr val="1F386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63456" y="3291840"/>
            <a:ext cx="204825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0616" y="34290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500616" y="374904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
entrega final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00616" y="448056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1520" y="5440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4: testes executados; verificações de interface e integração ao repositório ainda pendentes.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— Modelador Analítico de Painéis para Prevenção de Acidentes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1" name="TextBox 40"/>
          <p:cNvSpPr txBox="1"/>
          <p:nvPr/>
        </p:nvSpPr>
        <p:spPr>
          <a:xfrm>
            <a:off x="868680" y="485546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F67"/>
                </a:solidFill>
                <a:latin typeface="Aptos"/>
              </a:defRPr>
            </a:pPr>
            <a:r>
              <a:t>17/08 a 30/08/2026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6664" y="485546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F67"/>
                </a:solidFill>
                <a:latin typeface="Aptos"/>
              </a:defRPr>
            </a:pPr>
            <a:r>
              <a:t>31/08 a 13/09/2026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4648" y="485546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F67"/>
                </a:solidFill>
                <a:latin typeface="Aptos"/>
              </a:defRPr>
            </a:pPr>
            <a:r>
              <a:t>14/09 a 27/09/2026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42631" y="485546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F67"/>
                </a:solidFill>
                <a:latin typeface="Aptos"/>
              </a:defRPr>
            </a:pPr>
            <a:r>
              <a:t>28/09 a 18/10/2026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0616" y="4855464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F67"/>
                </a:solidFill>
                <a:latin typeface="Aptos"/>
              </a:defRPr>
            </a:pPr>
            <a:r>
              <a:t>19/10 a 30/11/2026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Processo: Lean Inception Aplicado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trilha que guiou a construção do MAPPA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do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97480" y="2011680"/>
            <a:ext cx="246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44368" y="201168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D98E2B"/>
          </a:solidFill>
          <a:ln/>
        </p:spPr>
      </p:sp>
      <p:sp>
        <p:nvSpPr>
          <p:cNvPr id="9" name="Text 7"/>
          <p:cNvSpPr/>
          <p:nvPr/>
        </p:nvSpPr>
        <p:spPr>
          <a:xfrm>
            <a:off x="3081528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81528" y="2606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&amp;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Jornada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0328" y="2011680"/>
            <a:ext cx="246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57216" y="201168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5294376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94376" y="2606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É /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23176" y="2011680"/>
            <a:ext cx="246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70064" y="201168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D98E2B"/>
          </a:solidFill>
          <a:ln/>
        </p:spPr>
      </p:sp>
      <p:sp>
        <p:nvSpPr>
          <p:cNvPr id="17" name="Text 15"/>
          <p:cNvSpPr/>
          <p:nvPr/>
        </p:nvSpPr>
        <p:spPr>
          <a:xfrm>
            <a:off x="7507224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07224" y="2606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&amp;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36024" y="2011680"/>
            <a:ext cx="246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82912" y="201168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9720072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20072" y="260604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Priorização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Sprints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10698480" cy="1508760"/>
          </a:xfrm>
          <a:prstGeom prst="roundRect">
            <a:avLst>
              <a:gd name="adj" fmla="val 4848"/>
            </a:avLst>
          </a:prstGeom>
          <a:solidFill>
            <a:srgbClr val="F7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aprendizado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956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0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a trilha do Lean Inception ajudou a equipe a decidir o que NÃO fazer primeiro — reduzindo o escopo inicial ao que realmente entrega valor ao gestor de mobilidade, sem perder a visão de longo prazo do produto.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— Modelador Analítico de Painéis para Prevenção de Acidentes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355"/>
                </a:solidFill>
                <a:latin typeface="Aptos"/>
              </a:defRPr>
            </a:pPr>
            <a:r>
              <a:t>Evidências de Execução e Testes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675"/>
                </a:solidFill>
                <a:latin typeface="Aptos"/>
              </a:defRPr>
            </a:pPr>
            <a:r>
              <a:t>Resultados locais verificados em 08/10/2026 — não representam homologação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074920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355"/>
                </a:solidFill>
                <a:latin typeface="Aptos"/>
              </a:defRPr>
            </a:pPr>
            <a:r>
              <a:t>ETL 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30552"/>
            <a:ext cx="464515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675"/>
                </a:solidFill>
                <a:latin typeface="Aptos"/>
              </a:defRPr>
            </a:pPr>
            <a:r>
              <a:t>11 arquivos de origem (2016–2026)</a:t>
            </a:r>
            <a:br/>
            <a:r>
              <a:t>48.876 acidentes • 55.118 feridos • 3.279 mortes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1600200"/>
            <a:ext cx="5074920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5351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355"/>
                </a:solidFill>
                <a:latin typeface="Aptos"/>
              </a:defRPr>
            </a:pPr>
            <a:r>
              <a:t>Verificações automatizadas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1" y="2130552"/>
            <a:ext cx="464515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675"/>
                </a:solidFill>
                <a:latin typeface="Aptos"/>
              </a:defRPr>
            </a:pPr>
            <a:r>
              <a:t>Arquivos gerados, colunas, totais e agregações: OK</a:t>
            </a:r>
            <a:br/>
            <a:r>
              <a:t>Recortes e coordenadas do mapa: 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074920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429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355"/>
                </a:solidFill>
                <a:latin typeface="Aptos"/>
              </a:defRPr>
            </a:pPr>
            <a:r>
              <a:t>Evoluções do PI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22191"/>
            <a:ext cx="464515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675"/>
                </a:solidFill>
                <a:latin typeface="Aptos"/>
              </a:defRPr>
            </a:pPr>
            <a:r>
              <a:t>RF11: comparação entre anos demonstrada</a:t>
            </a:r>
            <a:br/>
            <a:r>
              <a:t>RF12: trechos críticos por faixas de 10 km demonstrados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3291840"/>
            <a:ext cx="5074920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1" y="3429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355"/>
                </a:solidFill>
                <a:latin typeface="Aptos"/>
              </a:defRPr>
            </a:pPr>
            <a:r>
              <a:t>Transparência e exportação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1" y="3822191"/>
            <a:ext cx="464515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675"/>
                </a:solidFill>
                <a:latin typeface="Aptos"/>
              </a:defRPr>
            </a:pPr>
            <a:r>
              <a:t>RF13: fonte e data de modificação local exibidas</a:t>
            </a:r>
            <a:br/>
            <a:r>
              <a:t>RF14: exportação PNG de gráfico demonstrada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3355"/>
                </a:solidFill>
                <a:latin typeface="Aptos"/>
              </a:defRPr>
            </a:pPr>
            <a:r>
              <a:t>Ainda pendente: simular falha por arquivo ausente, revisar toda a interface e integrar a versão ampliada ao repositório PI II.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6675"/>
                </a:solidFill>
                <a:latin typeface="Aptos"/>
              </a:defRPr>
            </a:pPr>
            <a:r>
              <a:t>MAPPA — Modelador Analítico de Painéis para Prevenção de Acidentes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17352" y="6455664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6675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26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14264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sobre o MAPPA?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25400">
            <a:solidFill>
              <a:srgbClr val="D98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github.com/Danilo698/PI-2---Projeto-MAPPA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2026-08-17T21:03:08Z</dcterms:created>
  <dcterms:modified xsi:type="dcterms:W3CDTF">2026-08-17T21:03:08Z</dcterms:modified>
</cp:coreProperties>
</file>